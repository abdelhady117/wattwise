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9" r:id="rId9"/>
    <p:sldId id="262" r:id="rId10"/>
    <p:sldId id="267" r:id="rId11"/>
    <p:sldId id="263" r:id="rId12"/>
    <p:sldId id="268" r:id="rId13"/>
    <p:sldId id="270" r:id="rId14"/>
    <p:sldId id="264" r:id="rId15"/>
    <p:sldId id="26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Malgun Gothic" panose="020B0503020000020004" charset="-12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>
                <a:latin typeface="Malgun Gothic" panose="020B0503020000020004" charset="-127"/>
              </a:rPr>
              <a:t>8/6/2026</a:t>
            </a:fld>
            <a:endParaRPr lang="en-US">
              <a:latin typeface="Malgun Gothic" panose="020B0503020000020004" charset="-12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Malgun Gothic" panose="020B0503020000020004" charset="-12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>
                <a:latin typeface="Malgun Gothic" panose="020B0503020000020004" charset="-127"/>
              </a:rPr>
              <a:t>‹#›</a:t>
            </a:fld>
            <a:endParaRPr lang="en-US">
              <a:latin typeface="Malgun Gothic" panose="020B050302000002000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algun Gothic" panose="020B0503020000020004" charset="-12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algun Gothic" panose="020B0503020000020004" charset="-127"/>
              </a:defRPr>
            </a:lvl1pPr>
          </a:lstStyle>
          <a:p>
            <a:fld id="{3EFD42F7-718C-4B98-AAEC-167E6DDD60A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algun Gothic" panose="020B0503020000020004" charset="-12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algun Gothic" panose="020B0503020000020004" charset="-127"/>
              </a:defRPr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algun Gothic" panose="020B0503020000020004" charset="-127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algun Gothic" panose="020B0503020000020004" charset="-127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algun Gothic" panose="020B0503020000020004" charset="-127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algun Gothic" panose="020B0503020000020004" charset="-127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algun Gothic" panose="020B0503020000020004" charset="-12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algun Gothic" panose="020B0503020000020004" charset="-127"/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algun Gothic" panose="020B0503020000020004" charset="-12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algun Gothic" panose="020B0503020000020004" charset="-127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Malgun Gothic" panose="020B0503020000020004" charset="-127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Malgun Gothic" panose="020B0503020000020004" charset="-127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Malgun Gothic" panose="020B0503020000020004" charset="-127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Malgun Gothic" panose="020B0503020000020004" charset="-127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Malgun Gothic" panose="020B0503020000020004" charset="-127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Malgun Gothic" panose="020B0503020000020004" charset="-127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14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14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14.png"/><Relationship Id="rId4" Type="http://schemas.openxmlformats.org/officeDocument/2006/relationships/image" Target="../media/image4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jpeg"/><Relationship Id="rId1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14.png"/><Relationship Id="rId4" Type="http://schemas.openxmlformats.org/officeDocument/2006/relationships/image" Target="../media/image6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11" Type="http://schemas.openxmlformats.org/officeDocument/2006/relationships/image" Target="../media/image71.png"/><Relationship Id="rId5" Type="http://schemas.openxmlformats.org/officeDocument/2006/relationships/image" Target="../media/image26.png"/><Relationship Id="rId10" Type="http://schemas.openxmlformats.org/officeDocument/2006/relationships/image" Target="../media/image70.png"/><Relationship Id="rId4" Type="http://schemas.openxmlformats.org/officeDocument/2006/relationships/image" Target="../media/image66.png"/><Relationship Id="rId9" Type="http://schemas.openxmlformats.org/officeDocument/2006/relationships/image" Target="../media/image6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14.png"/><Relationship Id="rId4" Type="http://schemas.openxmlformats.org/officeDocument/2006/relationships/image" Target="../media/image6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1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78.png"/><Relationship Id="rId4" Type="http://schemas.openxmlformats.org/officeDocument/2006/relationships/image" Target="../media/image7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78.png"/><Relationship Id="rId4" Type="http://schemas.openxmlformats.org/officeDocument/2006/relationships/image" Target="../media/image7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10" Type="http://schemas.openxmlformats.org/officeDocument/2006/relationships/image" Target="../media/image14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7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0175" y="785812"/>
            <a:ext cx="2505075" cy="257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5657701"/>
            <a:ext cx="1924050" cy="390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9431" y="5657701"/>
            <a:ext cx="2228850" cy="3905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1637" y="5657701"/>
            <a:ext cx="1571625" cy="3905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6618" y="5657701"/>
            <a:ext cx="1514475" cy="3905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4450" y="5657701"/>
            <a:ext cx="2295525" cy="3905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" y="5095726"/>
            <a:ext cx="10858500" cy="11906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5287" y="2365102"/>
            <a:ext cx="11401425" cy="686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355"/>
              </a:lnSpc>
            </a:pPr>
            <a:r>
              <a:rPr sz="5100" b="1" i="0" u="none" dirty="0" err="1">
                <a:solidFill>
                  <a:srgbClr val="FFFFFF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WattWise</a:t>
            </a:r>
            <a:endParaRPr sz="5100" b="1" i="0" u="none" dirty="0">
              <a:solidFill>
                <a:srgbClr val="FFFFFF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6749" y="3134284"/>
            <a:ext cx="108585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00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 Home Energy Management and Monitoring System</a:t>
            </a:r>
            <a:endParaRPr sz="2000" b="0" i="1" u="none" dirty="0">
              <a:solidFill>
                <a:schemeClr val="accent1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23962" y="5333851"/>
            <a:ext cx="10006012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 dirty="0">
                <a:solidFill>
                  <a:srgbClr val="38BDF8"/>
                </a:solidFill>
                <a:ea typeface="+mn-lt"/>
              </a:rPr>
              <a:t>TEAMWORK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0" y="852487"/>
            <a:ext cx="119062" cy="1238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2025" y="5352901"/>
            <a:ext cx="185737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" y="5791051"/>
            <a:ext cx="152400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50406" y="5791051"/>
            <a:ext cx="152400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62612" y="5791051"/>
            <a:ext cx="152400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17593" y="5791051"/>
            <a:ext cx="152400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15425" y="5791051"/>
            <a:ext cx="152400" cy="123825"/>
          </a:xfrm>
          <a:prstGeom prst="rect">
            <a:avLst/>
          </a:prstGeom>
        </p:spPr>
      </p:pic>
      <p:pic>
        <p:nvPicPr>
          <p:cNvPr id="23" name="Picture 22" descr="logo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9085" y="238125"/>
            <a:ext cx="2926080" cy="14141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6955B46-E38C-E638-F196-5060CF0A63A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3314551" y="3633349"/>
            <a:ext cx="5562896" cy="4541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4" y="407731"/>
            <a:ext cx="2342627" cy="3790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2818358"/>
            <a:ext cx="5467350" cy="13192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775" y="2818358"/>
            <a:ext cx="5467350" cy="13192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4347120"/>
            <a:ext cx="5467350" cy="13192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775" y="4347120"/>
            <a:ext cx="5467350" cy="131921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75" y="547687"/>
            <a:ext cx="138112" cy="123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76350" y="3099028"/>
            <a:ext cx="4680585" cy="2197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ea typeface="+mn-lt"/>
              </a:rPr>
              <a:t>Rising Costs &amp; Tier Tariffs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3475583"/>
            <a:ext cx="491490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5"/>
              </a:lnSpc>
            </a:pPr>
            <a:r>
              <a:rPr sz="1160" b="0" i="0" u="none">
                <a:solidFill>
                  <a:srgbClr val="475569"/>
                </a:solidFill>
                <a:ea typeface="+mn-lt"/>
              </a:rPr>
              <a:t>Egyptian households face tier-based electricity tariffs and prepaid meters without clear visibility of consumption breakdown.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250" y="3037433"/>
            <a:ext cx="4680585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ea typeface="+mn-lt"/>
              </a:rPr>
              <a:t>Lack of Appliance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6050" y="3475583"/>
            <a:ext cx="491490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5"/>
              </a:lnSpc>
            </a:pPr>
            <a:r>
              <a:rPr sz="1160" b="0" i="0" u="none">
                <a:solidFill>
                  <a:srgbClr val="475569"/>
                </a:solidFill>
                <a:ea typeface="+mn-lt"/>
              </a:rPr>
              <a:t>Prepaid meters show total energy usage but fail to identify which individual appliances draw the most power.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6350" y="4566195"/>
            <a:ext cx="4680585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ea typeface="+mn-lt"/>
              </a:rPr>
              <a:t>Unexpected Credit Exhaustion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5004345"/>
            <a:ext cx="491490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5"/>
              </a:lnSpc>
            </a:pPr>
            <a:r>
              <a:rPr sz="1160" b="0" i="0" u="none">
                <a:solidFill>
                  <a:srgbClr val="475569"/>
                </a:solidFill>
                <a:ea typeface="+mn-lt"/>
              </a:rPr>
              <a:t>Users react to high bills or sudden credit depletion after it happens rather than preventing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3250" y="4566195"/>
            <a:ext cx="4680585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ea typeface="+mn-lt"/>
              </a:rPr>
              <a:t>Unaware of Abnormalities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6050" y="5004345"/>
            <a:ext cx="4914900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5"/>
              </a:lnSpc>
            </a:pPr>
            <a:r>
              <a:rPr sz="1160" b="0" i="0" u="none">
                <a:solidFill>
                  <a:srgbClr val="475569"/>
                </a:solidFill>
                <a:ea typeface="+mn-lt"/>
              </a:rPr>
              <a:t>Electrical degradation, wiring issues, or standby power drain go unnoticed due to lack of real-time monitoring.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3037433"/>
            <a:ext cx="342900" cy="3429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6050" y="3037433"/>
            <a:ext cx="342900" cy="3429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" y="4566195"/>
            <a:ext cx="342900" cy="3429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6050" y="4566195"/>
            <a:ext cx="342900" cy="3429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23875" y="1162050"/>
            <a:ext cx="11668125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ea typeface="+mn-lt"/>
              </a:rPr>
              <a:t>Background &amp; Problem Statement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875" y="1626840"/>
            <a:ext cx="11144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ea typeface="+mn-lt"/>
              </a:rPr>
              <a:t>Key challenges in household electricity monitoring and tariff management</a:t>
            </a:r>
          </a:p>
        </p:txBody>
      </p:sp>
      <p:pic>
        <p:nvPicPr>
          <p:cNvPr id="25" name="Picture 24" descr="logo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78265" y="238125"/>
            <a:ext cx="2926080" cy="14141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397433"/>
            <a:ext cx="3015458" cy="38859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2823120"/>
            <a:ext cx="5467350" cy="1314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775" y="2823120"/>
            <a:ext cx="5467350" cy="1314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4347120"/>
            <a:ext cx="5467350" cy="1314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775" y="4347120"/>
            <a:ext cx="5467350" cy="1314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" y="547687"/>
            <a:ext cx="109537" cy="123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1100" y="3126015"/>
            <a:ext cx="4800600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5" b="1" i="0" u="none">
                <a:solidFill>
                  <a:srgbClr val="0F172A"/>
                </a:solidFill>
                <a:ea typeface="+mn-lt"/>
              </a:rPr>
              <a:t>IoT Monitoring Nodes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489870"/>
            <a:ext cx="4991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ea typeface="+mn-lt"/>
              </a:rPr>
              <a:t>Smart outlets installed at selected power sockets continuously measure Voltage, Current, Power, and Energy.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070770"/>
            <a:ext cx="480060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5" b="1" i="0" u="none">
                <a:solidFill>
                  <a:srgbClr val="0F172A"/>
                </a:solidFill>
                <a:ea typeface="+mn-lt"/>
              </a:rPr>
              <a:t>Central Intelligence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3489870"/>
            <a:ext cx="4991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ea typeface="+mn-lt"/>
              </a:rPr>
              <a:t>Aggregates data, stores historical records, analyzes consumption patterns, and estimates costs.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1100" y="4594770"/>
            <a:ext cx="480060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5" b="1" i="0" u="none">
                <a:solidFill>
                  <a:srgbClr val="0F172A"/>
                </a:solidFill>
                <a:ea typeface="+mn-lt"/>
              </a:rPr>
              <a:t>Interactive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013870"/>
            <a:ext cx="49911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ea typeface="+mn-lt"/>
              </a:rPr>
              <a:t>Presents real-time appliance-level and house-level analytics to users.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594770"/>
            <a:ext cx="480060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5" b="1" i="0" u="none">
                <a:solidFill>
                  <a:srgbClr val="0F172A"/>
                </a:solidFill>
                <a:ea typeface="+mn-lt"/>
              </a:rPr>
              <a:t>Proactive Recommendations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5013870"/>
            <a:ext cx="4991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ea typeface="+mn-lt"/>
              </a:rPr>
              <a:t>Notifies users before reaching higher tariff tiers and flags abnormal electrical behavior.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3070770"/>
            <a:ext cx="323850" cy="3238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900" y="3070770"/>
            <a:ext cx="323850" cy="3238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4594770"/>
            <a:ext cx="323850" cy="3238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4594770"/>
            <a:ext cx="323850" cy="3238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23875" y="1162050"/>
            <a:ext cx="11668125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ea typeface="+mn-lt"/>
              </a:rPr>
              <a:t>Proposed IoT 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875" y="1626840"/>
            <a:ext cx="11144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ea typeface="+mn-lt"/>
              </a:rPr>
              <a:t>An end-to-end intelligent architecture for domestic energy optimization</a:t>
            </a:r>
          </a:p>
        </p:txBody>
      </p:sp>
      <p:pic>
        <p:nvPicPr>
          <p:cNvPr id="24" name="Picture 23" descr="logo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8265" y="238125"/>
            <a:ext cx="2926080" cy="14141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19374"/>
            <a:ext cx="3072349" cy="38308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2937420"/>
            <a:ext cx="5457825" cy="275853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2937420"/>
            <a:ext cx="5457825" cy="12287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4318545"/>
            <a:ext cx="5457825" cy="137740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75" y="547687"/>
            <a:ext cx="138112" cy="1238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19175" y="3165702"/>
            <a:ext cx="4980622" cy="2197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ea typeface="+mn-lt"/>
              </a:rPr>
              <a:t>Core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3489870"/>
            <a:ext cx="50196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ea typeface="+mn-lt"/>
              </a:rPr>
              <a:t>Develop an intelligent IoT system to monitor, analyze, and optimize household electricity usage.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175" y="4327796"/>
            <a:ext cx="4980622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ea typeface="+mn-lt"/>
              </a:rPr>
              <a:t>Target Capabilities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4661171"/>
            <a:ext cx="50196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ea typeface="+mn-lt"/>
              </a:rPr>
              <a:t>Track V, I, P, E per appliance, estimate daily/monthly cost, predict tariff transitions, and support remote relay control.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3185070"/>
            <a:ext cx="180975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50" y="4356371"/>
            <a:ext cx="180975" cy="1809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05600" y="3185070"/>
            <a:ext cx="4980622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ea typeface="+mn-lt"/>
              </a:rPr>
              <a:t>Scope Boundaries (Included)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518445"/>
            <a:ext cx="50196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ea typeface="+mn-lt"/>
              </a:rPr>
              <a:t>Smart monitoring nodes, cloud/local backend, analytics &amp; recommendation engine, real-time alerts.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600" y="4566195"/>
            <a:ext cx="4980622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ea typeface="+mn-lt"/>
              </a:rPr>
              <a:t>Scope Exclusions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4899570"/>
            <a:ext cx="5019675" cy="6310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 dirty="0">
                <a:solidFill>
                  <a:srgbClr val="334155"/>
                </a:solidFill>
                <a:ea typeface="+mn-lt"/>
              </a:rPr>
              <a:t>Direct integration with official provider meters</a:t>
            </a:r>
            <a:endParaRPr lang="en-US" sz="1125" dirty="0">
              <a:solidFill>
                <a:srgbClr val="334155"/>
              </a:solidFill>
              <a:ea typeface="+mn-lt"/>
            </a:endParaRPr>
          </a:p>
          <a:p>
            <a:pPr algn="l">
              <a:lnSpc>
                <a:spcPts val="1685"/>
              </a:lnSpc>
            </a:pPr>
            <a:r>
              <a:rPr sz="1125" b="0" i="0" u="none" dirty="0">
                <a:solidFill>
                  <a:srgbClr val="334155"/>
                </a:solidFill>
                <a:ea typeface="+mn-lt"/>
              </a:rPr>
              <a:t>certified revenue billing</a:t>
            </a:r>
            <a:endParaRPr lang="en-US" sz="1125" dirty="0">
              <a:solidFill>
                <a:srgbClr val="334155"/>
              </a:solidFill>
              <a:ea typeface="+mn-lt"/>
            </a:endParaRPr>
          </a:p>
          <a:p>
            <a:pPr algn="l">
              <a:lnSpc>
                <a:spcPts val="1685"/>
              </a:lnSpc>
            </a:pPr>
            <a:r>
              <a:rPr sz="1125" b="0" i="0" u="none" dirty="0">
                <a:solidFill>
                  <a:srgbClr val="334155"/>
                </a:solidFill>
                <a:ea typeface="+mn-lt"/>
              </a:rPr>
              <a:t>3-phase industrial systems.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9375" y="3213645"/>
            <a:ext cx="180975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9375" y="4594770"/>
            <a:ext cx="180975" cy="1809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23875" y="1162050"/>
            <a:ext cx="11668125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ea typeface="+mn-lt"/>
              </a:rPr>
              <a:t>Project Objectives &amp;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875" y="1626840"/>
            <a:ext cx="11144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ea typeface="+mn-lt"/>
              </a:rPr>
              <a:t>Defining system capabilities and boundaries</a:t>
            </a:r>
          </a:p>
        </p:txBody>
      </p:sp>
      <p:pic>
        <p:nvPicPr>
          <p:cNvPr id="23" name="Picture 22" descr="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78265" y="238125"/>
            <a:ext cx="2926080" cy="14141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15304"/>
            <a:ext cx="3404048" cy="38859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2661195"/>
            <a:ext cx="11144250" cy="447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204120"/>
            <a:ext cx="11144250" cy="4476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747045"/>
            <a:ext cx="11144250" cy="4476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4289970"/>
            <a:ext cx="11144250" cy="4476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4832895"/>
            <a:ext cx="11144250" cy="4476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5375820"/>
            <a:ext cx="11144250" cy="4476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75" y="547687"/>
            <a:ext cx="157162" cy="1238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3450" y="2792957"/>
            <a:ext cx="2076450" cy="184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ea typeface="+mn-lt"/>
              </a:rPr>
              <a:t>Physical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9900" y="2794545"/>
            <a:ext cx="36290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ea typeface="+mn-lt"/>
              </a:rPr>
              <a:t>Household appliances, outlets, and electrical wiring.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650" y="3327945"/>
            <a:ext cx="20002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ea typeface="+mn-lt"/>
              </a:rPr>
              <a:t>Sensing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9900" y="3337470"/>
            <a:ext cx="46577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ea typeface="+mn-lt"/>
              </a:rPr>
              <a:t>Voltage (V) and Current (I) sensors measuring electrical parameters.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550" y="3870870"/>
            <a:ext cx="20383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ea typeface="+mn-lt"/>
              </a:rPr>
              <a:t>Edge Computing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9900" y="3880395"/>
            <a:ext cx="60007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ea typeface="+mn-lt"/>
              </a:rPr>
              <a:t>ESP32 microcontroller performing sampling, power calculations, and MQTT publishing.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9650" y="4413795"/>
            <a:ext cx="20002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ea typeface="+mn-lt"/>
              </a:rPr>
              <a:t>Communication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9900" y="4423320"/>
            <a:ext cx="37433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ea typeface="+mn-lt"/>
              </a:rPr>
              <a:t>Wi-Fi &amp; MQTT broker transferring JSON data payloads.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" y="4956720"/>
            <a:ext cx="205740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ea typeface="+mn-lt"/>
              </a:rPr>
              <a:t>Backend &amp; Analytics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09900" y="4966245"/>
            <a:ext cx="51720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ea typeface="+mn-lt"/>
              </a:rPr>
              <a:t>Device manager, analytics engine, recommendation engine, and database.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450" y="5499645"/>
            <a:ext cx="207645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ea typeface="+mn-lt"/>
              </a:rPr>
              <a:t>User Intelligence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09900" y="5509170"/>
            <a:ext cx="4114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ea typeface="+mn-lt"/>
              </a:rPr>
              <a:t>Interactive Web/Mobile Dashboard for control and insights.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2808833"/>
            <a:ext cx="11430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3351758"/>
            <a:ext cx="19050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3894683"/>
            <a:ext cx="152400" cy="1524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4437608"/>
            <a:ext cx="190500" cy="1524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900" y="4980533"/>
            <a:ext cx="133350" cy="152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3900" y="5523458"/>
            <a:ext cx="114300" cy="1524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23875" y="1162050"/>
            <a:ext cx="11668125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ea typeface="+mn-lt"/>
              </a:rPr>
              <a:t>Layered System 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875" y="1626840"/>
            <a:ext cx="11144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ea typeface="+mn-lt"/>
              </a:rPr>
              <a:t>Multi-tier design pattern from physical sensing to user intelligence</a:t>
            </a:r>
          </a:p>
        </p:txBody>
      </p:sp>
      <p:pic>
        <p:nvPicPr>
          <p:cNvPr id="32" name="Picture 31" descr="logo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78265" y="238125"/>
            <a:ext cx="2926080" cy="14141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5E2148-A995-989B-E8F4-324CFE3A4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3B125A0A-CBAE-6525-4D19-AD19C31B2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70B7D6D0-FE52-9997-BB04-D5430FC37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4" y="412386"/>
            <a:ext cx="3404048" cy="388590"/>
          </a:xfrm>
          <a:prstGeom prst="rect">
            <a:avLst/>
          </a:prstGeom>
        </p:spPr>
      </p:pic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66458DE5-AE53-5996-0605-264C265E4C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81" y="541311"/>
            <a:ext cx="165937" cy="13073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2DF8665-298D-FD5E-E171-70BA4CB1F8B3}"/>
              </a:ext>
            </a:extLst>
          </p:cNvPr>
          <p:cNvSpPr txBox="1"/>
          <p:nvPr/>
        </p:nvSpPr>
        <p:spPr>
          <a:xfrm>
            <a:off x="523875" y="1162050"/>
            <a:ext cx="11668125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ea typeface="+mn-lt"/>
              </a:rPr>
              <a:t>Layered System Architecture</a:t>
            </a:r>
          </a:p>
        </p:txBody>
      </p:sp>
      <p:pic>
        <p:nvPicPr>
          <p:cNvPr id="32" name="Picture 31" descr="logo">
            <a:extLst>
              <a:ext uri="{FF2B5EF4-FFF2-40B4-BE49-F238E27FC236}">
                <a16:creationId xmlns:a16="http://schemas.microsoft.com/office/drawing/2014/main" id="{7A52AD5A-EB88-61C3-8808-11166F23C6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8265" y="238125"/>
            <a:ext cx="2926080" cy="141414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5689460-C942-CA6D-ED58-3E4293D62A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0470" y="1726852"/>
            <a:ext cx="7345312" cy="489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549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4" y="465773"/>
            <a:ext cx="3091796" cy="34429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242244"/>
            <a:ext cx="5429250" cy="400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2030313"/>
            <a:ext cx="5429250" cy="11096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3273325"/>
            <a:ext cx="5429250" cy="90249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4309169"/>
            <a:ext cx="5429250" cy="110966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75" y="5552182"/>
            <a:ext cx="5429250" cy="90249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248400" y="2393708"/>
            <a:ext cx="5410200" cy="36975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90600" y="2236053"/>
            <a:ext cx="5000625" cy="2076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ea typeface="+mn-lt"/>
              </a:rPr>
              <a:t>Microcontroller (ESP32)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2525613"/>
            <a:ext cx="502920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0"/>
              </a:lnSpc>
            </a:pPr>
            <a:r>
              <a:rPr sz="1085" b="0" i="0" u="none">
                <a:solidFill>
                  <a:srgbClr val="475569"/>
                </a:solidFill>
                <a:ea typeface="+mn-lt"/>
              </a:rPr>
              <a:t>Built-in Wi-Fi, dual-core processing, ADC/GPIO interfaces for rapid sensor reading.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3473350"/>
            <a:ext cx="5000625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ea typeface="+mn-lt"/>
              </a:rPr>
              <a:t>Voltage &amp; Current Sensors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3768625"/>
            <a:ext cx="5029200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0"/>
              </a:lnSpc>
            </a:pPr>
            <a:r>
              <a:rPr sz="1085" b="0" i="0" u="none">
                <a:solidFill>
                  <a:srgbClr val="475569"/>
                </a:solidFill>
                <a:ea typeface="+mn-lt"/>
              </a:rPr>
              <a:t>Measures instantaneous AC voltage quality and appliance load current.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650" y="4509194"/>
            <a:ext cx="4980622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ea typeface="+mn-lt"/>
              </a:rPr>
              <a:t>Relay Control Module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4804469"/>
            <a:ext cx="502920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0"/>
              </a:lnSpc>
            </a:pPr>
            <a:r>
              <a:rPr sz="1085" b="0" i="0" u="none">
                <a:solidFill>
                  <a:srgbClr val="475569"/>
                </a:solidFill>
                <a:ea typeface="+mn-lt"/>
              </a:rPr>
              <a:t>Enables optional remote ON/OFF control and scheduled automated operations.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5752207"/>
            <a:ext cx="5000625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ea typeface="+mn-lt"/>
              </a:rPr>
              <a:t>Power Supply &amp; Status LEDs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6047482"/>
            <a:ext cx="5029200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0"/>
              </a:lnSpc>
            </a:pPr>
            <a:r>
              <a:rPr sz="1085" b="0" i="0" u="none">
                <a:solidFill>
                  <a:srgbClr val="475569"/>
                </a:solidFill>
                <a:ea typeface="+mn-lt"/>
              </a:rPr>
              <a:t>Regulates AC to DC power and provides visual Wi-Fi/Relay status indicators.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2254150"/>
            <a:ext cx="171450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3497163"/>
            <a:ext cx="171450" cy="1714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900" y="4533007"/>
            <a:ext cx="190500" cy="1714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3900" y="5776019"/>
            <a:ext cx="171450" cy="1714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23875" y="1162050"/>
            <a:ext cx="11668125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ea typeface="+mn-lt"/>
              </a:rPr>
              <a:t>Hardware Design &amp; Smart Nodes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875" y="1626840"/>
            <a:ext cx="11144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ea typeface="+mn-lt"/>
              </a:rPr>
              <a:t>Component selection for precise edge sampling and safety</a:t>
            </a:r>
          </a:p>
        </p:txBody>
      </p:sp>
      <p:pic>
        <p:nvPicPr>
          <p:cNvPr id="25" name="Picture 24" descr="logo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78265" y="238125"/>
            <a:ext cx="2926080" cy="14141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AFBA61-60D6-CD7A-14CE-E3D7FE9A8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299DA331-9FC5-E4B3-586C-5C0FF8242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59CF7933-78CC-AFCE-2AFF-D9D1F4D49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392015"/>
            <a:ext cx="3567246" cy="388589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557BE9E9-3E6A-EE19-81C8-9AB547F1A2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519113"/>
            <a:ext cx="166687" cy="12382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0D01B98-6B79-C1BC-5AE4-8046B1A50CA4}"/>
              </a:ext>
            </a:extLst>
          </p:cNvPr>
          <p:cNvSpPr txBox="1"/>
          <p:nvPr/>
        </p:nvSpPr>
        <p:spPr>
          <a:xfrm>
            <a:off x="523875" y="1162050"/>
            <a:ext cx="11668125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1" i="0" u="none" dirty="0">
                <a:solidFill>
                  <a:srgbClr val="0F172A"/>
                </a:solidFill>
                <a:ea typeface="+mn-lt"/>
              </a:rPr>
              <a:t>Node-Red Flow Design</a:t>
            </a:r>
            <a:endParaRPr sz="2550" b="1" i="0" u="none" dirty="0">
              <a:solidFill>
                <a:srgbClr val="0F172A"/>
              </a:solidFill>
              <a:ea typeface="+mn-lt"/>
            </a:endParaRPr>
          </a:p>
        </p:txBody>
      </p:sp>
      <p:pic>
        <p:nvPicPr>
          <p:cNvPr id="25" name="Picture 24" descr="logo">
            <a:extLst>
              <a:ext uri="{FF2B5EF4-FFF2-40B4-BE49-F238E27FC236}">
                <a16:creationId xmlns:a16="http://schemas.microsoft.com/office/drawing/2014/main" id="{4D540867-DDF8-71C7-69CF-8F563BD11F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8265" y="238125"/>
            <a:ext cx="2926080" cy="1414145"/>
          </a:xfrm>
          <a:prstGeom prst="rect">
            <a:avLst/>
          </a:prstGeom>
        </p:spPr>
      </p:pic>
      <p:pic>
        <p:nvPicPr>
          <p:cNvPr id="26" name="Picture 25" descr="image.png">
            <a:extLst>
              <a:ext uri="{FF2B5EF4-FFF2-40B4-BE49-F238E27FC236}">
                <a16:creationId xmlns:a16="http://schemas.microsoft.com/office/drawing/2014/main" id="{C459CE72-1492-EEE7-FBC5-DB224CBBA6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7949" y="3780416"/>
            <a:ext cx="3938277" cy="102834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10876AB-5649-A43A-3035-060DAE43174E}"/>
              </a:ext>
            </a:extLst>
          </p:cNvPr>
          <p:cNvSpPr txBox="1"/>
          <p:nvPr/>
        </p:nvSpPr>
        <p:spPr>
          <a:xfrm>
            <a:off x="4102049" y="4140700"/>
            <a:ext cx="3664177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1" u="none" dirty="0">
                <a:solidFill>
                  <a:srgbClr val="0F172A"/>
                </a:solidFill>
                <a:ea typeface="+mn-lt"/>
              </a:rPr>
              <a:t>Go to </a:t>
            </a:r>
            <a:r>
              <a:rPr lang="en-US" sz="2000" b="1" u="none" dirty="0" err="1">
                <a:solidFill>
                  <a:srgbClr val="0F172A"/>
                </a:solidFill>
                <a:ea typeface="+mn-lt"/>
              </a:rPr>
              <a:t>Wokwi</a:t>
            </a:r>
            <a:r>
              <a:rPr lang="en-US" sz="2000" b="1" u="none" dirty="0">
                <a:solidFill>
                  <a:srgbClr val="0F172A"/>
                </a:solidFill>
                <a:ea typeface="+mn-lt"/>
              </a:rPr>
              <a:t> …</a:t>
            </a:r>
            <a:endParaRPr sz="2000" b="1" u="none" dirty="0">
              <a:solidFill>
                <a:srgbClr val="0F172A"/>
              </a:solidFill>
              <a:ea typeface="+mn-lt"/>
            </a:endParaRPr>
          </a:p>
        </p:txBody>
      </p:sp>
      <p:pic>
        <p:nvPicPr>
          <p:cNvPr id="34" name="Picture 33" descr="image.png">
            <a:extLst>
              <a:ext uri="{FF2B5EF4-FFF2-40B4-BE49-F238E27FC236}">
                <a16:creationId xmlns:a16="http://schemas.microsoft.com/office/drawing/2014/main" id="{7EB4CBF9-F2A1-5C40-89EF-BA445D0FE3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2049" y="4010411"/>
            <a:ext cx="638616" cy="63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326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392015"/>
            <a:ext cx="3567246" cy="38858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2673101"/>
            <a:ext cx="5467350" cy="16144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775" y="2673101"/>
            <a:ext cx="5467350" cy="16144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4497139"/>
            <a:ext cx="5467350" cy="1314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775" y="4497139"/>
            <a:ext cx="5467350" cy="1314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75" y="519113"/>
            <a:ext cx="166687" cy="123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1100" y="2975996"/>
            <a:ext cx="4800600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5" b="1" i="0" u="none">
                <a:solidFill>
                  <a:srgbClr val="0F172A"/>
                </a:solidFill>
                <a:ea typeface="+mn-lt"/>
              </a:rPr>
              <a:t>Publish / Subscribe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339851"/>
            <a:ext cx="4991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ea typeface="+mn-lt"/>
              </a:rPr>
              <a:t>Lightweight MQTT protocol ensures low bandwidth usage, minimal latency, and high scalability.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920751"/>
            <a:ext cx="480060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5" b="1" i="0" u="none">
                <a:solidFill>
                  <a:srgbClr val="0F172A"/>
                </a:solidFill>
                <a:ea typeface="+mn-lt"/>
              </a:rPr>
              <a:t>Hierarchical Topic Naming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3339851"/>
            <a:ext cx="49911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ea typeface="+mn-lt"/>
              </a:rPr>
              <a:t>Structured topic tree for scalable message routing: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900" y="3611314"/>
            <a:ext cx="49911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81100" y="4744789"/>
            <a:ext cx="480060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5" b="1" i="0" u="none">
                <a:solidFill>
                  <a:srgbClr val="0F172A"/>
                </a:solidFill>
                <a:ea typeface="+mn-lt"/>
              </a:rPr>
              <a:t>JSON Data Payload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163889"/>
            <a:ext cx="4991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ea typeface="+mn-lt"/>
              </a:rPr>
              <a:t>Transmits nodeId, timestamp, voltage, current, power, energy, and relayState.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744789"/>
            <a:ext cx="480060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5" b="1" i="0" u="none">
                <a:solidFill>
                  <a:srgbClr val="0F172A"/>
                </a:solidFill>
                <a:ea typeface="+mn-lt"/>
              </a:rPr>
              <a:t>Quality of Service (QoS)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8900" y="5163889"/>
            <a:ext cx="4991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ea typeface="+mn-lt"/>
              </a:rPr>
              <a:t>QoS 0 for high-frequency measurements; QoS 1 for reliable delivery of control commands and configuration.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2920751"/>
            <a:ext cx="323850" cy="3238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2920751"/>
            <a:ext cx="323850" cy="3238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4744789"/>
            <a:ext cx="323850" cy="3238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4744789"/>
            <a:ext cx="323850" cy="3238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23875" y="1162050"/>
            <a:ext cx="11668125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ea typeface="+mn-lt"/>
              </a:rPr>
              <a:t>Communication Protocol &amp; MQTT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875" y="1626840"/>
            <a:ext cx="11144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ea typeface="+mn-lt"/>
              </a:rPr>
              <a:t>Data telemetry structure and QoS delivery model</a:t>
            </a:r>
          </a:p>
        </p:txBody>
      </p:sp>
      <p:pic>
        <p:nvPicPr>
          <p:cNvPr id="25" name="Picture 24" descr="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78265" y="238125"/>
            <a:ext cx="2926080" cy="14141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F0F02E-1A75-A553-3BDB-97F8E889F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592ACB01-690F-D55F-93E5-96BB54361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320E09CB-819B-E1C6-3C2C-864E95FCE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392015"/>
            <a:ext cx="3567246" cy="388589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BB176774-E8F2-49CC-4BA0-7988C6396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519113"/>
            <a:ext cx="166687" cy="12382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D518AC7-071F-E1FE-8AD4-F560A2E4EF4C}"/>
              </a:ext>
            </a:extLst>
          </p:cNvPr>
          <p:cNvSpPr txBox="1"/>
          <p:nvPr/>
        </p:nvSpPr>
        <p:spPr>
          <a:xfrm>
            <a:off x="523875" y="1162050"/>
            <a:ext cx="11668125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1" i="0" u="none" dirty="0">
                <a:solidFill>
                  <a:srgbClr val="0F172A"/>
                </a:solidFill>
                <a:ea typeface="+mn-lt"/>
              </a:rPr>
              <a:t>Node-Red Flow Design</a:t>
            </a:r>
            <a:endParaRPr sz="2550" b="1" i="0" u="none" dirty="0">
              <a:solidFill>
                <a:srgbClr val="0F172A"/>
              </a:solidFill>
              <a:ea typeface="+mn-lt"/>
            </a:endParaRPr>
          </a:p>
        </p:txBody>
      </p:sp>
      <p:pic>
        <p:nvPicPr>
          <p:cNvPr id="25" name="Picture 24" descr="logo">
            <a:extLst>
              <a:ext uri="{FF2B5EF4-FFF2-40B4-BE49-F238E27FC236}">
                <a16:creationId xmlns:a16="http://schemas.microsoft.com/office/drawing/2014/main" id="{5F7F67F8-D488-AD6F-6818-6A022030B2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8265" y="238125"/>
            <a:ext cx="2926080" cy="1414145"/>
          </a:xfrm>
          <a:prstGeom prst="rect">
            <a:avLst/>
          </a:prstGeom>
        </p:spPr>
      </p:pic>
      <p:pic>
        <p:nvPicPr>
          <p:cNvPr id="26" name="Picture 25" descr="image.png">
            <a:extLst>
              <a:ext uri="{FF2B5EF4-FFF2-40B4-BE49-F238E27FC236}">
                <a16:creationId xmlns:a16="http://schemas.microsoft.com/office/drawing/2014/main" id="{B2CE0C46-5355-FC99-AE81-AA8C939805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7949" y="3780416"/>
            <a:ext cx="3938277" cy="102834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0909D97-4B51-3334-141F-31F0BCAF8741}"/>
              </a:ext>
            </a:extLst>
          </p:cNvPr>
          <p:cNvSpPr txBox="1"/>
          <p:nvPr/>
        </p:nvSpPr>
        <p:spPr>
          <a:xfrm>
            <a:off x="4102049" y="4140700"/>
            <a:ext cx="3664177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1" u="none" dirty="0">
                <a:solidFill>
                  <a:srgbClr val="0F172A"/>
                </a:solidFill>
                <a:ea typeface="+mn-lt"/>
              </a:rPr>
              <a:t>Go to Node-red …</a:t>
            </a:r>
            <a:endParaRPr sz="2000" b="1" u="none" dirty="0">
              <a:solidFill>
                <a:srgbClr val="0F172A"/>
              </a:solidFill>
              <a:ea typeface="+mn-lt"/>
            </a:endParaRPr>
          </a:p>
        </p:txBody>
      </p:sp>
      <p:pic>
        <p:nvPicPr>
          <p:cNvPr id="34" name="Picture 33" descr="image.png">
            <a:extLst>
              <a:ext uri="{FF2B5EF4-FFF2-40B4-BE49-F238E27FC236}">
                <a16:creationId xmlns:a16="http://schemas.microsoft.com/office/drawing/2014/main" id="{8A20821A-3872-DFCE-93B2-0E5333FFDF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2049" y="4010411"/>
            <a:ext cx="638616" cy="63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927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340073"/>
            <a:ext cx="3170890" cy="38858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2242244"/>
            <a:ext cx="5429250" cy="400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1823144"/>
            <a:ext cx="5429250" cy="11096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3066157"/>
            <a:ext cx="5429250" cy="110966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8875" y="4309169"/>
            <a:ext cx="5429250" cy="110966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8875" y="5552182"/>
            <a:ext cx="5429250" cy="110966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532" y="500956"/>
            <a:ext cx="166687" cy="123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2251769"/>
            <a:ext cx="5410200" cy="398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24650" y="2028884"/>
            <a:ext cx="4980622" cy="2076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ea typeface="+mn-lt"/>
              </a:rPr>
              <a:t>Appliance &amp; House Dashboards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2318444"/>
            <a:ext cx="502920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0"/>
              </a:lnSpc>
            </a:pPr>
            <a:r>
              <a:rPr sz="1085" b="0" i="0" u="none">
                <a:solidFill>
                  <a:srgbClr val="475569"/>
                </a:solidFill>
                <a:ea typeface="+mn-lt"/>
              </a:rPr>
              <a:t>Displays live V, I, P, E, highest-consuming appliance, peak hours, and historical trends.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0" y="3266182"/>
            <a:ext cx="504063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ea typeface="+mn-lt"/>
              </a:rPr>
              <a:t>Tariff &amp; Cost Estimation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3561457"/>
            <a:ext cx="502920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0"/>
              </a:lnSpc>
            </a:pPr>
            <a:r>
              <a:rPr sz="1085" b="0" i="0" u="none">
                <a:solidFill>
                  <a:srgbClr val="475569"/>
                </a:solidFill>
                <a:ea typeface="+mn-lt"/>
              </a:rPr>
              <a:t>Tracks current tariff tier, calculates daily/monthly cost, and predicts next tier jump.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5600" y="4509194"/>
            <a:ext cx="5000625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ea typeface="+mn-lt"/>
              </a:rPr>
              <a:t>Fault &amp; Anomaly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4804469"/>
            <a:ext cx="502920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0"/>
              </a:lnSpc>
            </a:pPr>
            <a:r>
              <a:rPr sz="1085" b="0" i="0" u="none">
                <a:solidFill>
                  <a:srgbClr val="475569"/>
                </a:solidFill>
                <a:ea typeface="+mn-lt"/>
              </a:rPr>
              <a:t>Flags unusual current spikes, voltage drops, and excessive standby power drain.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600" y="5752207"/>
            <a:ext cx="5000625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ea typeface="+mn-lt"/>
              </a:rPr>
              <a:t>Automation &amp; Scheduling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8900" y="6047482"/>
            <a:ext cx="502920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0"/>
              </a:lnSpc>
            </a:pPr>
            <a:r>
              <a:rPr sz="1085" b="0" i="0" u="none">
                <a:solidFill>
                  <a:srgbClr val="475569"/>
                </a:solidFill>
                <a:ea typeface="+mn-lt"/>
              </a:rPr>
              <a:t>Allows users to set timers, remote ON/OFF rules, and energy-saving schedules.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2046982"/>
            <a:ext cx="190500" cy="1714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3289994"/>
            <a:ext cx="133350" cy="1714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4533007"/>
            <a:ext cx="171450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5776019"/>
            <a:ext cx="171450" cy="1714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23875" y="1162050"/>
            <a:ext cx="11668125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ea typeface="+mn-lt"/>
              </a:rPr>
              <a:t>Software &amp; Intelligent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875" y="1626840"/>
            <a:ext cx="11144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ea typeface="+mn-lt"/>
              </a:rPr>
              <a:t>User controls, predictive insights, and anomaly detection</a:t>
            </a:r>
          </a:p>
        </p:txBody>
      </p:sp>
      <p:pic>
        <p:nvPicPr>
          <p:cNvPr id="26" name="Picture 25" descr="logo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78265" y="238125"/>
            <a:ext cx="2926080" cy="14141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99124A-BAC0-ECD9-B685-2B0DA1FF3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9D9AB80-D092-D5C4-3937-B0D2977E4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9E185F01-8D1F-3B18-D607-1C3B561E1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340073"/>
            <a:ext cx="3170890" cy="388589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856CFAE9-8E96-188D-B484-52C4B33056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375" y="3231700"/>
            <a:ext cx="5429250" cy="1109662"/>
          </a:xfrm>
          <a:prstGeom prst="rect">
            <a:avLst/>
          </a:prstGeom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91BBCDF8-D27C-2837-B5EF-C1A648D575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532" y="500956"/>
            <a:ext cx="166687" cy="1238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A29524-F53A-9901-AC6F-994EAE073ABC}"/>
              </a:ext>
            </a:extLst>
          </p:cNvPr>
          <p:cNvSpPr txBox="1"/>
          <p:nvPr/>
        </p:nvSpPr>
        <p:spPr>
          <a:xfrm>
            <a:off x="4618684" y="3549600"/>
            <a:ext cx="3808312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400" b="1" dirty="0">
                <a:solidFill>
                  <a:srgbClr val="0F172A"/>
                </a:solidFill>
                <a:ea typeface="+mn-lt"/>
              </a:rPr>
              <a:t>Go to the dashboard …</a:t>
            </a:r>
            <a:endParaRPr sz="2400" b="1" i="0" u="none" dirty="0">
              <a:solidFill>
                <a:srgbClr val="0F172A"/>
              </a:solidFill>
              <a:ea typeface="+mn-lt"/>
            </a:endParaRPr>
          </a:p>
        </p:txBody>
      </p:sp>
      <p:pic>
        <p:nvPicPr>
          <p:cNvPr id="20" name="Picture 19" descr="image.png">
            <a:extLst>
              <a:ext uri="{FF2B5EF4-FFF2-40B4-BE49-F238E27FC236}">
                <a16:creationId xmlns:a16="http://schemas.microsoft.com/office/drawing/2014/main" id="{FEB78F19-74F6-50F0-B744-C11C1FEF17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3420" y="3606288"/>
            <a:ext cx="300436" cy="27039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51F1FBA-E1BB-F51B-B482-51FCF5C39D45}"/>
              </a:ext>
            </a:extLst>
          </p:cNvPr>
          <p:cNvSpPr txBox="1"/>
          <p:nvPr/>
        </p:nvSpPr>
        <p:spPr>
          <a:xfrm>
            <a:off x="523875" y="1162050"/>
            <a:ext cx="11668125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ea typeface="+mn-lt"/>
              </a:rPr>
              <a:t>Software &amp; Intelligent Analytics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04A8F8-6F56-B65E-F1B5-2A6BB3660681}"/>
              </a:ext>
            </a:extLst>
          </p:cNvPr>
          <p:cNvSpPr txBox="1"/>
          <p:nvPr/>
        </p:nvSpPr>
        <p:spPr>
          <a:xfrm>
            <a:off x="523875" y="1626840"/>
            <a:ext cx="11144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ea typeface="+mn-lt"/>
              </a:rPr>
              <a:t>User controls, predictive insights, and anomaly detection</a:t>
            </a:r>
          </a:p>
        </p:txBody>
      </p:sp>
      <p:pic>
        <p:nvPicPr>
          <p:cNvPr id="26" name="Picture 25" descr="logo">
            <a:extLst>
              <a:ext uri="{FF2B5EF4-FFF2-40B4-BE49-F238E27FC236}">
                <a16:creationId xmlns:a16="http://schemas.microsoft.com/office/drawing/2014/main" id="{E25397C0-5462-73D3-CA02-4031C9E914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8265" y="238125"/>
            <a:ext cx="2926080" cy="1414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500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A09266-7102-BE72-DFBF-A2936B746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0F565D33-4D5F-A24A-D7DB-4D3C1D3AC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D4561A80-53EB-3F47-5926-0B53C04DC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340073"/>
            <a:ext cx="3170890" cy="388589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1D6887AE-9693-59B9-733C-D66BC618C8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375" y="3231700"/>
            <a:ext cx="5429250" cy="1109662"/>
          </a:xfrm>
          <a:prstGeom prst="rect">
            <a:avLst/>
          </a:prstGeom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678B885B-FD7C-CAD0-9437-1EAB739547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532" y="500956"/>
            <a:ext cx="166687" cy="1238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DAE9C85-8A9A-BDF1-5E1B-2F854092EA08}"/>
              </a:ext>
            </a:extLst>
          </p:cNvPr>
          <p:cNvSpPr txBox="1"/>
          <p:nvPr/>
        </p:nvSpPr>
        <p:spPr>
          <a:xfrm>
            <a:off x="4618684" y="3549600"/>
            <a:ext cx="3808312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400" b="1" dirty="0">
                <a:solidFill>
                  <a:srgbClr val="0F172A"/>
                </a:solidFill>
                <a:ea typeface="+mn-lt"/>
              </a:rPr>
              <a:t>Testing the project …</a:t>
            </a:r>
            <a:endParaRPr sz="2400" b="1" i="0" u="none" dirty="0">
              <a:solidFill>
                <a:srgbClr val="0F172A"/>
              </a:solidFill>
              <a:ea typeface="+mn-lt"/>
            </a:endParaRPr>
          </a:p>
        </p:txBody>
      </p:sp>
      <p:pic>
        <p:nvPicPr>
          <p:cNvPr id="20" name="Picture 19" descr="image.png">
            <a:extLst>
              <a:ext uri="{FF2B5EF4-FFF2-40B4-BE49-F238E27FC236}">
                <a16:creationId xmlns:a16="http://schemas.microsoft.com/office/drawing/2014/main" id="{CAFC9F6E-668D-E01E-E33D-1EA267AB33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3420" y="3606288"/>
            <a:ext cx="300436" cy="270392"/>
          </a:xfrm>
          <a:prstGeom prst="rect">
            <a:avLst/>
          </a:prstGeom>
        </p:spPr>
      </p:pic>
      <p:pic>
        <p:nvPicPr>
          <p:cNvPr id="26" name="Picture 25" descr="logo">
            <a:extLst>
              <a:ext uri="{FF2B5EF4-FFF2-40B4-BE49-F238E27FC236}">
                <a16:creationId xmlns:a16="http://schemas.microsoft.com/office/drawing/2014/main" id="{6FBF0719-8B7D-8BA9-6FC6-1D3A1C90B7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8265" y="238125"/>
            <a:ext cx="2926080" cy="1414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282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90537"/>
            <a:ext cx="1419225" cy="238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2823120"/>
            <a:ext cx="5467350" cy="1314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775" y="2823120"/>
            <a:ext cx="5467350" cy="1314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4347120"/>
            <a:ext cx="5467350" cy="1314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775" y="4347120"/>
            <a:ext cx="5467350" cy="1314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" y="547687"/>
            <a:ext cx="138112" cy="123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1100" y="3126015"/>
            <a:ext cx="4800600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5" b="1" i="0" u="none">
                <a:solidFill>
                  <a:srgbClr val="0F172A"/>
                </a:solidFill>
                <a:ea typeface="+mn-lt"/>
              </a:rPr>
              <a:t>Smart Meter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489870"/>
            <a:ext cx="4991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ea typeface="+mn-lt"/>
              </a:rPr>
              <a:t>Direct integration with official smart electricity meters for real-time credit syncing.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070770"/>
            <a:ext cx="480060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5" b="1" i="0" u="none">
                <a:solidFill>
                  <a:srgbClr val="0F172A"/>
                </a:solidFill>
                <a:ea typeface="+mn-lt"/>
              </a:rPr>
              <a:t>AI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3489870"/>
            <a:ext cx="4991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ea typeface="+mn-lt"/>
              </a:rPr>
              <a:t>Machine learning models for predictive maintenance, load forecasting, and habit learning.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1100" y="4594770"/>
            <a:ext cx="480060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5" b="1" i="0" u="none">
                <a:solidFill>
                  <a:srgbClr val="0F172A"/>
                </a:solidFill>
                <a:ea typeface="+mn-lt"/>
              </a:rPr>
              <a:t>Native Mobile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013870"/>
            <a:ext cx="4991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ea typeface="+mn-lt"/>
              </a:rPr>
              <a:t>Android &amp; iOS apps with push notifications, widgets, and voice assistant integration.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594770"/>
            <a:ext cx="480060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5" b="1" i="0" u="none">
                <a:solidFill>
                  <a:srgbClr val="0F172A"/>
                </a:solidFill>
                <a:ea typeface="+mn-lt"/>
              </a:rPr>
              <a:t>Solar &amp; Renewable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5013870"/>
            <a:ext cx="4991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ea typeface="+mn-lt"/>
              </a:rPr>
              <a:t>Extending system to monitor photovoltaic systems, batteries, and EV chargers.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3070770"/>
            <a:ext cx="323850" cy="3238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900" y="3070770"/>
            <a:ext cx="323850" cy="3238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4594770"/>
            <a:ext cx="323850" cy="3238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4594770"/>
            <a:ext cx="323850" cy="3238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23875" y="1162050"/>
            <a:ext cx="11668125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ea typeface="+mn-lt"/>
              </a:rPr>
              <a:t>Future Expansion &amp; Roadmap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875" y="1626840"/>
            <a:ext cx="11144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ea typeface="+mn-lt"/>
              </a:rPr>
              <a:t>Scaling capabilities towards next-generation Home Energy Management Systems</a:t>
            </a:r>
          </a:p>
        </p:txBody>
      </p:sp>
      <p:pic>
        <p:nvPicPr>
          <p:cNvPr id="24" name="Picture 23" descr="logo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8265" y="238125"/>
            <a:ext cx="2926080" cy="14141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90537"/>
            <a:ext cx="1300162" cy="238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2446883"/>
            <a:ext cx="11144250" cy="35909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" y="547687"/>
            <a:ext cx="119062" cy="1238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5875" y="2798991"/>
            <a:ext cx="10491311" cy="276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369A1"/>
                </a:solidFill>
                <a:ea typeface="+mn-lt"/>
              </a:rPr>
              <a:t>Key Takeaways: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823120"/>
            <a:ext cx="257175" cy="228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14400" y="3323183"/>
            <a:ext cx="10363200" cy="597693"/>
          </a:xfrm>
          <a:prstGeom prst="roundRect">
            <a:avLst>
              <a:gd name="adj" fmla="val 1593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0" y="3494633"/>
            <a:ext cx="9906000" cy="254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5"/>
              </a:lnSpc>
            </a:pPr>
            <a:r>
              <a:rPr sz="1235" b="1" i="0" u="none">
                <a:solidFill>
                  <a:srgbClr val="0F172A"/>
                </a:solidFill>
                <a:ea typeface="+mn-lt"/>
              </a:rPr>
              <a:t>Actionable Decision Support:</a:t>
            </a:r>
            <a:r>
              <a:rPr sz="1235" b="0" i="0" u="none">
                <a:solidFill>
                  <a:srgbClr val="1E293B"/>
                </a:solidFill>
                <a:ea typeface="+mn-lt"/>
              </a:rPr>
              <a:t> Transforms passive energy monitoring into proactive cost reduction and safety management.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911351"/>
            <a:ext cx="103632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+mn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4400" y="3323183"/>
            <a:ext cx="103632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+mn-l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3323183"/>
            <a:ext cx="47625" cy="597693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+mn-l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268075" y="3323183"/>
            <a:ext cx="9525" cy="597693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+mn-lt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14400" y="4092326"/>
            <a:ext cx="10363200" cy="597693"/>
          </a:xfrm>
          <a:prstGeom prst="roundRect">
            <a:avLst>
              <a:gd name="adj" fmla="val 1593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+mn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4263776"/>
            <a:ext cx="9906000" cy="254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5"/>
              </a:lnSpc>
            </a:pPr>
            <a:r>
              <a:rPr sz="1235" b="1" i="0" u="none">
                <a:solidFill>
                  <a:srgbClr val="0F172A"/>
                </a:solidFill>
                <a:ea typeface="+mn-lt"/>
              </a:rPr>
              <a:t>Tailored for Egyptian Market:</a:t>
            </a:r>
            <a:r>
              <a:rPr sz="1235" b="0" i="0" u="none">
                <a:solidFill>
                  <a:srgbClr val="1E293B"/>
                </a:solidFill>
                <a:ea typeface="+mn-lt"/>
              </a:rPr>
              <a:t> Addresses tier-based tariffs and prepaid meter challenges directly.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680495"/>
            <a:ext cx="103632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+mn-l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14400" y="4092326"/>
            <a:ext cx="103632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+mn-l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14400" y="4092326"/>
            <a:ext cx="47625" cy="597693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+mn-l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268075" y="4092326"/>
            <a:ext cx="9525" cy="597693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+mn-lt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14400" y="4861470"/>
            <a:ext cx="10363200" cy="833437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+mn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43000" y="5032920"/>
            <a:ext cx="9906000" cy="4905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5"/>
              </a:lnSpc>
            </a:pPr>
            <a:r>
              <a:rPr sz="1235" b="1" i="0" u="none">
                <a:solidFill>
                  <a:srgbClr val="0F172A"/>
                </a:solidFill>
                <a:ea typeface="+mn-lt"/>
              </a:rPr>
              <a:t>Scalable &amp; Modular Architecture:</a:t>
            </a:r>
            <a:r>
              <a:rPr sz="1235" b="0" i="0" u="none">
                <a:solidFill>
                  <a:srgbClr val="1E293B"/>
                </a:solidFill>
                <a:ea typeface="+mn-lt"/>
              </a:rPr>
              <a:t> Launches as an IoT prototype while serving as a scalable foundation for full Home Energy Management Systems (HEMS).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685383"/>
            <a:ext cx="103632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+mn-lt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14400" y="4861470"/>
            <a:ext cx="103632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+mn-lt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14400" y="4861470"/>
            <a:ext cx="47625" cy="83343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+mn-lt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1268075" y="4861470"/>
            <a:ext cx="9525" cy="833437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+mn-lt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14400" y="3911351"/>
            <a:ext cx="103632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+mn-lt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14400" y="4680495"/>
            <a:ext cx="103632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+mn-lt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14400" y="5685383"/>
            <a:ext cx="103632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+mn-lt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23875" y="1162050"/>
            <a:ext cx="11668125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ea typeface="+mn-lt"/>
              </a:rPr>
              <a:t>Conclusion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875" y="1626840"/>
            <a:ext cx="11144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ea typeface="+mn-lt"/>
              </a:rPr>
              <a:t>Summary of key impacts and project takeaways</a:t>
            </a:r>
          </a:p>
        </p:txBody>
      </p:sp>
      <p:pic>
        <p:nvPicPr>
          <p:cNvPr id="32" name="Picture 31" descr="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8265" y="238125"/>
            <a:ext cx="2926080" cy="14141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algun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lgun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lgun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lgun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812</Words>
  <Application>Microsoft Office PowerPoint</Application>
  <PresentationFormat>Widescreen</PresentationFormat>
  <Paragraphs>104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Malgun Gothic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عبدالهادي محمد عبدالهادي النبوي</cp:lastModifiedBy>
  <cp:revision>7</cp:revision>
  <dcterms:created xsi:type="dcterms:W3CDTF">2013-01-27T09:14:00Z</dcterms:created>
  <dcterms:modified xsi:type="dcterms:W3CDTF">2026-08-06T11:17:05Z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53696495C0564AC49F4C2A2C7DC32F05_13</vt:lpwstr>
  </property>
</Properties>
</file>